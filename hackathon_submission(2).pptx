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2" r:id="rId4"/>
    <p:sldId id="258" r:id="rId5"/>
    <p:sldId id="259" r:id="rId6"/>
    <p:sldId id="260" r:id="rId7"/>
    <p:sldId id="261" r:id="rId8"/>
    <p:sldId id="262" r:id="rId9"/>
    <p:sldId id="263" r:id="rId10"/>
    <p:sldId id="271" r:id="rId11"/>
    <p:sldId id="264" r:id="rId12"/>
    <p:sldId id="265" r:id="rId13"/>
    <p:sldId id="266" r:id="rId14"/>
    <p:sldId id="267" r:id="rId15"/>
    <p:sldId id="268" r:id="rId16"/>
    <p:sldId id="269" r:id="rId17"/>
    <p:sldId id="270"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p:scale>
          <a:sx n="73" d="100"/>
          <a:sy n="73" d="100"/>
        </p:scale>
        <p:origin x="170" y="43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14400" y="1828800"/>
            <a:ext cx="10362895" cy="1828800"/>
          </a:xfrm>
          <a:prstGeom prst="rect">
            <a:avLst/>
          </a:prstGeom>
          <a:noFill/>
        </p:spPr>
        <p:txBody>
          <a:bodyPr wrap="square">
            <a:spAutoFit/>
          </a:bodyPr>
          <a:lstStyle/>
          <a:p>
            <a:pPr>
              <a:defRPr sz="3600" b="1">
                <a:solidFill>
                  <a:srgbClr val="F1F5F9"/>
                </a:solidFill>
                <a:latin typeface="Arial"/>
              </a:defRPr>
            </a:pPr>
            <a:r>
              <a:t>Supply Chain Ontology &amp; Governed Conversational Analytics</a:t>
            </a:r>
          </a:p>
          <a:p>
            <a:pPr>
              <a:defRPr sz="1800">
                <a:solidFill>
                  <a:srgbClr val="38BDF8"/>
                </a:solidFill>
                <a:latin typeface="Arial"/>
              </a:defRPr>
            </a:pPr>
            <a:r>
              <a:t>CoCo CLI Hackathon GCC Edition — Prototype Presentation</a:t>
            </a:r>
            <a:br/>
            <a:r>
              <a:t>One Ontology. One Answer. Any Persona.</a:t>
            </a:r>
          </a:p>
        </p:txBody>
      </p:sp>
      <p:sp>
        <p:nvSpPr>
          <p:cNvPr id="4" name="TextBox 3"/>
          <p:cNvSpPr txBox="1"/>
          <p:nvPr/>
        </p:nvSpPr>
        <p:spPr>
          <a:xfrm>
            <a:off x="914400" y="4114800"/>
            <a:ext cx="10362895" cy="1371600"/>
          </a:xfrm>
          <a:prstGeom prst="rect">
            <a:avLst/>
          </a:prstGeom>
          <a:noFill/>
        </p:spPr>
        <p:txBody>
          <a:bodyPr wrap="square">
            <a:spAutoFit/>
          </a:bodyPr>
          <a:lstStyle/>
          <a:p>
            <a:pPr>
              <a:defRPr sz="1400">
                <a:solidFill>
                  <a:srgbClr val="F1F5F9"/>
                </a:solidFill>
              </a:defRPr>
            </a:pPr>
            <a:r>
              <a:t>Author: Prabhjot Kaur (Solo)  |  Platform: Snowflake + CoCo CLI (Built 100% with CoCo)</a:t>
            </a:r>
          </a:p>
          <a:p>
            <a:pPr>
              <a:defRPr sz="1300">
                <a:solidFill>
                  <a:srgbClr val="94A3B8"/>
                </a:solidFill>
              </a:defRPr>
            </a:pPr>
            <a:r>
              <a:t>System Blueprint Inventory: 52+ Snowflake Objects | 4 Cortex Agents | 5 Reusable Skills | 3 MCP Servers | 3 Automations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20095" cy="731520"/>
          </a:xfrm>
          <a:prstGeom prst="rect">
            <a:avLst/>
          </a:prstGeom>
          <a:noFill/>
        </p:spPr>
        <p:txBody>
          <a:bodyPr wrap="square">
            <a:spAutoFit/>
          </a:bodyPr>
          <a:lstStyle/>
          <a:p>
            <a:pPr>
              <a:defRPr sz="2800" b="1">
                <a:solidFill>
                  <a:srgbClr val="0F172A"/>
                </a:solidFill>
                <a:latin typeface="Arial"/>
              </a:defRPr>
            </a:pPr>
            <a:r>
              <a:t>The Problem: Fragmented Logic vs. Governed Ontology</a:t>
            </a:r>
          </a:p>
        </p:txBody>
      </p:sp>
      <p:sp>
        <p:nvSpPr>
          <p:cNvPr id="4" name="Rectangle 3"/>
          <p:cNvSpPr/>
          <p:nvPr/>
        </p:nvSpPr>
        <p:spPr>
          <a:xfrm>
            <a:off x="685800" y="1188720"/>
            <a:ext cx="108200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645920"/>
            <a:ext cx="5120640" cy="4389120"/>
          </a:xfrm>
          <a:prstGeom prst="rect">
            <a:avLst/>
          </a:prstGeom>
          <a:noFill/>
        </p:spPr>
        <p:txBody>
          <a:bodyPr wrap="square">
            <a:spAutoFit/>
          </a:bodyPr>
          <a:lstStyle/>
          <a:p>
            <a:pPr>
              <a:defRPr sz="1800" b="1">
                <a:solidFill>
                  <a:srgbClr val="2563EB"/>
                </a:solidFill>
              </a:defRPr>
            </a:pPr>
            <a:r>
              <a:t>The Operational Chaos (Before)</a:t>
            </a:r>
          </a:p>
          <a:p>
            <a:pPr>
              <a:defRPr sz="1300">
                <a:solidFill>
                  <a:srgbClr val="0F172A"/>
                </a:solidFill>
              </a:defRPr>
            </a:pPr>
            <a:r>
              <a:t>• Same Question, Different Answers: Supply chain teams (procurement, planning, logistics) query the same underlying raw data tables but calculate core metrics inconsistently.</a:t>
            </a:r>
          </a:p>
          <a:p>
            <a:pPr>
              <a:defRPr sz="1300">
                <a:solidFill>
                  <a:srgbClr val="0F172A"/>
                </a:solidFill>
              </a:defRPr>
            </a:pPr>
            <a:r>
              <a:t>• Spreadsheet Silos: Metrics like OTD%, Fill Rate, DOI, and Landed Cost get computed via localized spreadsheets, customized BI definitions, or disjointed ad-hoc SQL.</a:t>
            </a:r>
          </a:p>
          <a:p>
            <a:pPr>
              <a:defRPr sz="1300">
                <a:solidFill>
                  <a:srgbClr val="0F172A"/>
                </a:solidFill>
              </a:defRPr>
            </a:pPr>
            <a:r>
              <a:t>• Standup Friction: Conflicting analytics reports force alignment arguments during every operational standup meeting.</a:t>
            </a:r>
          </a:p>
          <a:p>
            <a:pPr>
              <a:defRPr sz="1300">
                <a:solidFill>
                  <a:srgbClr val="0F172A"/>
                </a:solidFill>
              </a:defRPr>
            </a:pPr>
            <a:r>
              <a:t>• Manual Waste: 30 to 60 minutes spent on manual report compilation every single morning per operational team.</a:t>
            </a:r>
          </a:p>
          <a:p>
            <a:pPr>
              <a:defRPr sz="1300">
                <a:solidFill>
                  <a:srgbClr val="0F172A"/>
                </a:solidFill>
              </a:defRPr>
            </a:pPr>
            <a:r>
              <a:t>• Lack of Orchestration: Zero enterprise-wide alerts and zero centralized governance rules.</a:t>
            </a:r>
          </a:p>
        </p:txBody>
      </p:sp>
      <p:sp>
        <p:nvSpPr>
          <p:cNvPr id="6" name="TextBox 5"/>
          <p:cNvSpPr txBox="1"/>
          <p:nvPr/>
        </p:nvSpPr>
        <p:spPr>
          <a:xfrm>
            <a:off x="6217920" y="1645920"/>
            <a:ext cx="5120640" cy="4389120"/>
          </a:xfrm>
          <a:prstGeom prst="rect">
            <a:avLst/>
          </a:prstGeom>
          <a:noFill/>
        </p:spPr>
        <p:txBody>
          <a:bodyPr wrap="square">
            <a:spAutoFit/>
          </a:bodyPr>
          <a:lstStyle/>
          <a:p>
            <a:pPr>
              <a:defRPr sz="1800" b="1">
                <a:solidFill>
                  <a:srgbClr val="2563EB"/>
                </a:solidFill>
              </a:defRPr>
            </a:pPr>
            <a:r>
              <a:t>Target Audience Persona Needs</a:t>
            </a:r>
          </a:p>
          <a:p>
            <a:pPr>
              <a:defRPr sz="1300"/>
            </a:pPr>
            <a:r>
              <a:t>• </a:t>
            </a:r>
            <a:r>
              <a:rPr b="1">
                <a:solidFill>
                  <a:srgbClr val="0E7490"/>
                </a:solidFill>
              </a:rPr>
              <a:t>Procurement Manager:</a:t>
            </a:r>
            <a:r>
              <a:rPr>
                <a:solidFill>
                  <a:srgbClr val="0F172A"/>
                </a:solidFill>
              </a:rPr>
              <a:t> Tracks supplier scorecards, long-term landed cost movements, critical material reorder points, and automated write-actions for purchase order logs with explicit justification parameters.</a:t>
            </a:r>
          </a:p>
          <a:p>
            <a:pPr>
              <a:defRPr sz="1300"/>
            </a:pPr>
            <a:r>
              <a:t>• </a:t>
            </a:r>
            <a:r>
              <a:rPr b="1">
                <a:solidFill>
                  <a:srgbClr val="0E7490"/>
                </a:solidFill>
              </a:rPr>
              <a:t>Planning Analyst:</a:t>
            </a:r>
            <a:r>
              <a:rPr>
                <a:solidFill>
                  <a:srgbClr val="0F172A"/>
                </a:solidFill>
              </a:rPr>
              <a:t> Oversees system-wide inventory asset health, demand projection timelines driven by integrated ML forecasting code, fulfillments risk scoring matrices, and part gap logic charts.</a:t>
            </a:r>
          </a:p>
          <a:p>
            <a:pPr>
              <a:defRPr sz="1300"/>
            </a:pPr>
            <a:r>
              <a:t>• </a:t>
            </a:r>
            <a:r>
              <a:rPr b="1">
                <a:solidFill>
                  <a:srgbClr val="0E7490"/>
                </a:solidFill>
              </a:rPr>
              <a:t>Logistics Coordinator:</a:t>
            </a:r>
            <a:r>
              <a:rPr>
                <a:solidFill>
                  <a:srgbClr val="0F172A"/>
                </a:solidFill>
              </a:rPr>
              <a:t> Inspects transit tracking data feeds, routes delay flags, computes carrier on-time thresholds, and directly fires operational shipment expedite commands linked across Jira and Slack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9B970C2-81F6-4009-789A-373DAF93653B}"/>
              </a:ext>
            </a:extLst>
          </p:cNvPr>
          <p:cNvPicPr>
            <a:picLocks noChangeAspect="1"/>
          </p:cNvPicPr>
          <p:nvPr/>
        </p:nvPicPr>
        <p:blipFill>
          <a:blip r:embed="rId2"/>
          <a:stretch>
            <a:fillRect/>
          </a:stretch>
        </p:blipFill>
        <p:spPr>
          <a:xfrm>
            <a:off x="468093" y="0"/>
            <a:ext cx="11255814" cy="6858000"/>
          </a:xfrm>
          <a:prstGeom prst="rect">
            <a:avLst/>
          </a:prstGeom>
        </p:spPr>
      </p:pic>
    </p:spTree>
    <p:extLst>
      <p:ext uri="{BB962C8B-B14F-4D97-AF65-F5344CB8AC3E}">
        <p14:creationId xmlns:p14="http://schemas.microsoft.com/office/powerpoint/2010/main" val="38800283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20095" cy="731520"/>
          </a:xfrm>
          <a:prstGeom prst="rect">
            <a:avLst/>
          </a:prstGeom>
          <a:noFill/>
        </p:spPr>
        <p:txBody>
          <a:bodyPr wrap="square">
            <a:spAutoFit/>
          </a:bodyPr>
          <a:lstStyle/>
          <a:p>
            <a:pPr>
              <a:defRPr sz="2800" b="1">
                <a:solidFill>
                  <a:srgbClr val="0F172A"/>
                </a:solidFill>
                <a:latin typeface="Arial"/>
              </a:defRPr>
            </a:pPr>
            <a:r>
              <a:t>Architecture Step 1: Base Tables &amp; Modern Audit Design</a:t>
            </a:r>
          </a:p>
        </p:txBody>
      </p:sp>
      <p:sp>
        <p:nvSpPr>
          <p:cNvPr id="4" name="Rectangle 3"/>
          <p:cNvSpPr/>
          <p:nvPr/>
        </p:nvSpPr>
        <p:spPr>
          <a:xfrm>
            <a:off x="685800" y="1188720"/>
            <a:ext cx="108200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71600"/>
            <a:ext cx="10820095" cy="5029200"/>
          </a:xfrm>
          <a:prstGeom prst="rect">
            <a:avLst/>
          </a:prstGeom>
          <a:noFill/>
        </p:spPr>
        <p:txBody>
          <a:bodyPr wrap="square">
            <a:spAutoFit/>
          </a:bodyPr>
          <a:lstStyle/>
          <a:p>
            <a:pPr>
              <a:defRPr sz="1600" b="1">
                <a:solidFill>
                  <a:srgbClr val="0E7490"/>
                </a:solidFill>
              </a:defRPr>
            </a:pPr>
            <a:r>
              <a:t>System Data Layer Composition (9 Functional Base Tables + 1 Alert Sink)</a:t>
            </a:r>
          </a:p>
          <a:p>
            <a:pPr>
              <a:defRPr sz="1200">
                <a:solidFill>
                  <a:srgbClr val="0F172A"/>
                </a:solidFill>
              </a:defRPr>
            </a:pPr>
            <a:r>
              <a:t>• Master Reference Catalog (4 Tables): SUPPLIERS (Name, country, baseline lead time, master quality metric), PARTS (SKU metadata catalog, category grouping, standard unit material cost, weight), PLANTS (Manufacturing footprints, distribution warehouses, operational capacities), and CUSTOMERS (Global customer registry, market segments, target regions).</a:t>
            </a:r>
          </a:p>
          <a:p>
            <a:pPr>
              <a:defRPr sz="1200">
                <a:solidFill>
                  <a:srgbClr val="0F172A"/>
                </a:solidFill>
              </a:defRPr>
            </a:pPr>
            <a:r>
              <a:t>• Operational Tracking Layer (5 Tables): SHIPMENTS (Header-level logistics log, transport mode, carrier tracking data), SHIPMENT_LINES (Line-level breakdown, item mapping, inbound quantities), ORDERS (Customer request headers, booking timestamps, priority levels), ORDER_LINES (Requested SKUs, pricing allocations, delivery status fields), and INVENTORY (Real-time storage status, quantity on hand, baseline safety levels).</a:t>
            </a:r>
          </a:p>
          <a:p>
            <a:pPr>
              <a:defRPr sz="1200">
                <a:solidFill>
                  <a:srgbClr val="0F172A"/>
                </a:solidFill>
              </a:defRPr>
            </a:pPr>
            <a:r>
              <a:t>• Operational Alert Sink (1 Table): SUPPLY_CHAIN_ALERTS (Tracks system-generated exceptions, alert types, execution states, upstream record links, and Jira reference IDs).</a:t>
            </a:r>
          </a:p>
          <a:p>
            <a:pPr>
              <a:spcBef>
                <a:spcPts val="1400"/>
              </a:spcBef>
              <a:defRPr sz="1600" b="1">
                <a:solidFill>
                  <a:srgbClr val="2563EB"/>
                </a:solidFill>
              </a:defRPr>
            </a:pPr>
            <a:r>
              <a:t>Strategic Design Choice: Eliminating Over-Engineered Logging Overheads</a:t>
            </a:r>
          </a:p>
          <a:p>
            <a:pPr>
              <a:defRPr sz="1200">
                <a:solidFill>
                  <a:srgbClr val="0F172A"/>
                </a:solidFill>
              </a:defRPr>
            </a:pPr>
            <a:r>
              <a:t>• Rejected Architecture Strategy: Deploying 9 concurrent streams, 9 capture tasks, and 1 massive custom master audit table to parse change data loops across all tables universally.</a:t>
            </a:r>
          </a:p>
          <a:p>
            <a:pPr>
              <a:defRPr sz="1200">
                <a:solidFill>
                  <a:srgbClr val="0F172A"/>
                </a:solidFill>
              </a:defRPr>
            </a:pPr>
            <a:r>
              <a:t>• The Flaw: Over-engineered and heavy. Master catalogs scale slowly and change rarely. Constructing continuous structural CDC code here creates unnecessary compute and maintenance costs.</a:t>
            </a:r>
          </a:p>
          <a:p>
            <a:pPr>
              <a:defRPr sz="1200">
                <a:solidFill>
                  <a:srgbClr val="0F172A"/>
                </a:solidFill>
              </a:defRPr>
            </a:pPr>
            <a:r>
              <a:t>• Selected Split Data Strategy: Leverage native Snowflake cloud features directly based on data profile categories without writing custom pipelines.</a:t>
            </a:r>
          </a:p>
          <a:p>
            <a:pPr>
              <a:defRPr sz="1200">
                <a:solidFill>
                  <a:srgbClr val="0F172A"/>
                </a:solidFill>
              </a:defRPr>
            </a:pPr>
            <a:r>
              <a:t>• Master Data Governance: Managed automatically via built-in Access History tracking (365 days retention). Captures query and mutation logs without managing pipeline configurations.</a:t>
            </a:r>
          </a:p>
          <a:p>
            <a:pPr>
              <a:defRPr sz="1200">
                <a:solidFill>
                  <a:srgbClr val="0F172A"/>
                </a:solidFill>
              </a:defRPr>
            </a:pPr>
            <a:r>
              <a:t>• Operational Data Governance: Handled completely via standard 90-day Time Travel retention boundaries, covering the operational lifecycle of orders and shipments flawlessly.</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20095" cy="731520"/>
          </a:xfrm>
          <a:prstGeom prst="rect">
            <a:avLst/>
          </a:prstGeom>
          <a:noFill/>
        </p:spPr>
        <p:txBody>
          <a:bodyPr wrap="square">
            <a:spAutoFit/>
          </a:bodyPr>
          <a:lstStyle/>
          <a:p>
            <a:pPr>
              <a:defRPr sz="2800" b="1">
                <a:solidFill>
                  <a:srgbClr val="0F172A"/>
                </a:solidFill>
                <a:latin typeface="Arial"/>
              </a:defRPr>
            </a:pPr>
            <a:r>
              <a:t>Architecture Step 2: Dynamic Tables &amp; Refresh Modes</a:t>
            </a:r>
          </a:p>
        </p:txBody>
      </p:sp>
      <p:sp>
        <p:nvSpPr>
          <p:cNvPr id="4" name="Rectangle 3"/>
          <p:cNvSpPr/>
          <p:nvPr/>
        </p:nvSpPr>
        <p:spPr>
          <a:xfrm>
            <a:off x="685800" y="1188720"/>
            <a:ext cx="108200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71600"/>
            <a:ext cx="10820095" cy="5029200"/>
          </a:xfrm>
          <a:prstGeom prst="rect">
            <a:avLst/>
          </a:prstGeom>
          <a:noFill/>
        </p:spPr>
        <p:txBody>
          <a:bodyPr wrap="square">
            <a:spAutoFit/>
          </a:bodyPr>
          <a:lstStyle/>
          <a:p>
            <a:pPr>
              <a:defRPr sz="1600" b="1">
                <a:solidFill>
                  <a:srgbClr val="2563EB"/>
                </a:solidFill>
              </a:defRPr>
            </a:pPr>
            <a:r>
              <a:t>The 4 Pre-Aggregated Analytical Dynamic Engines</a:t>
            </a:r>
          </a:p>
          <a:p>
            <a:pPr>
              <a:defRPr sz="1200">
                <a:solidFill>
                  <a:srgbClr val="0F172A"/>
                </a:solidFill>
              </a:defRPr>
            </a:pPr>
            <a:r>
              <a:t>• DT_DELIVERY_PERF: Blends SHIPMENTS, SUPPLIERS, and PLANTS. Materializes OTD%, lead time metrics, and supplier late counts.</a:t>
            </a:r>
          </a:p>
          <a:p>
            <a:pPr>
              <a:defRPr sz="1200">
                <a:solidFill>
                  <a:srgbClr val="0F172A"/>
                </a:solidFill>
              </a:defRPr>
            </a:pPr>
            <a:r>
              <a:t>• DT_ORDER_FULFILLMENT: Blends ORDERS, ORDER_LINES, INVENTORY, CUSTOMERS, and PLANTS. Exposes base fill rate patterns and raw coverage timelines.</a:t>
            </a:r>
          </a:p>
          <a:p>
            <a:pPr>
              <a:defRPr sz="1200">
                <a:solidFill>
                  <a:srgbClr val="0F172A"/>
                </a:solidFill>
              </a:defRPr>
            </a:pPr>
            <a:r>
              <a:t>• DT_INVENTORY_POSITION: Integrates INVENTORY, PARTS, PLANTS, and ORDER_LINES. Exposes Days of Inventory (DOI), and highlights active reorder flags.</a:t>
            </a:r>
          </a:p>
          <a:p>
            <a:pPr>
              <a:defRPr sz="1200">
                <a:solidFill>
                  <a:srgbClr val="0F172A"/>
                </a:solidFill>
              </a:defRPr>
            </a:pPr>
            <a:r>
              <a:t>• DT_LANDED_COST: Merges SHIPMENTS, SHIPMENT_LINES, PARTS, SUPPLIERS, and PLANTS. Resolves total cost (Material + Freight share + Duty estimations).</a:t>
            </a:r>
          </a:p>
          <a:p>
            <a:pPr>
              <a:spcBef>
                <a:spcPts val="1400"/>
              </a:spcBef>
              <a:defRPr sz="1600" b="1">
                <a:solidFill>
                  <a:srgbClr val="0E7490"/>
                </a:solidFill>
              </a:defRPr>
            </a:pPr>
            <a:r>
              <a:t>Crucial Design Decision: Refresh Mode Optimization</a:t>
            </a:r>
          </a:p>
          <a:p>
            <a:pPr>
              <a:defRPr sz="1200">
                <a:solidFill>
                  <a:srgbClr val="0F172A"/>
                </a:solidFill>
              </a:defRPr>
            </a:pPr>
            <a:r>
              <a:t>• Rejected Pattern: Keeping time-dependent code like CURRENT_DATE() directly inside internal dynamic table definitions.</a:t>
            </a:r>
          </a:p>
          <a:p>
            <a:pPr>
              <a:defRPr sz="1200">
                <a:solidFill>
                  <a:srgbClr val="0F172A"/>
                </a:solidFill>
              </a:defRPr>
            </a:pPr>
            <a:r>
              <a:t>• The Trap: Pushing CURRENT_DATE() inside complex CTE joins blocks INCREMENTAL refresh logic. Snowflake defaults to a FULL refresh layout, which blocks stream deployment over dynamic tables.</a:t>
            </a:r>
          </a:p>
          <a:p>
            <a:pPr>
              <a:defRPr sz="1200">
                <a:solidFill>
                  <a:srgbClr val="0F172A"/>
                </a:solidFill>
              </a:defRPr>
            </a:pPr>
            <a:r>
              <a:t>• Selected Pattern: Extract time-dependent calculations out of the dynamic layer entirely. Standardize on REFRESH_MODE = INCREMENTAL with a 1-hour target lag constraint across all 4 dynamic engines.</a:t>
            </a:r>
          </a:p>
          <a:p>
            <a:pPr>
              <a:defRPr sz="1200">
                <a:solidFill>
                  <a:srgbClr val="0F172A"/>
                </a:solidFill>
              </a:defRPr>
            </a:pPr>
            <a:r>
              <a:t>• The Solution: Pushed live risk scoring calculations up into an adjacent view layer (V_ORDER_FULFILLMENT). Rows evaluate on-the-fly at query time while the underlying tables refresh incrementally and support downstream change tracking streams.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20095" cy="731520"/>
          </a:xfrm>
          <a:prstGeom prst="rect">
            <a:avLst/>
          </a:prstGeom>
          <a:noFill/>
        </p:spPr>
        <p:txBody>
          <a:bodyPr wrap="square">
            <a:spAutoFit/>
          </a:bodyPr>
          <a:lstStyle/>
          <a:p>
            <a:pPr>
              <a:defRPr sz="2800" b="1">
                <a:solidFill>
                  <a:srgbClr val="0F172A"/>
                </a:solidFill>
                <a:latin typeface="Arial"/>
              </a:defRPr>
            </a:pPr>
            <a:r>
              <a:t>View Architecture: Live Multi-Factor Risk Scoring Engine</a:t>
            </a:r>
          </a:p>
        </p:txBody>
      </p:sp>
      <p:sp>
        <p:nvSpPr>
          <p:cNvPr id="4" name="Rectangle 3"/>
          <p:cNvSpPr/>
          <p:nvPr/>
        </p:nvSpPr>
        <p:spPr>
          <a:xfrm>
            <a:off x="685800" y="1188720"/>
            <a:ext cx="108200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71600"/>
            <a:ext cx="10820095" cy="5029200"/>
          </a:xfrm>
          <a:prstGeom prst="rect">
            <a:avLst/>
          </a:prstGeom>
          <a:noFill/>
        </p:spPr>
        <p:txBody>
          <a:bodyPr wrap="square">
            <a:spAutoFit/>
          </a:bodyPr>
          <a:lstStyle/>
          <a:p>
            <a:pPr>
              <a:defRPr sz="1600" b="1">
                <a:solidFill>
                  <a:srgbClr val="2563EB"/>
                </a:solidFill>
              </a:defRPr>
            </a:pPr>
            <a:r>
              <a:t>V_ORDER_FULFILLMENT Layer: Building the Composite 0-12 Risk Metric Matrix</a:t>
            </a:r>
          </a:p>
          <a:p>
            <a:pPr>
              <a:defRPr sz="1200">
                <a:solidFill>
                  <a:srgbClr val="0F172A"/>
                </a:solidFill>
              </a:defRPr>
            </a:pPr>
            <a:r>
              <a:t>• Factor 1: Stock Coverage Days ➔ Score 0 if &gt;14 days | Score 1 if 7-14 days | Score 2 if 3-7 days | Score 3 if &lt;3 days.</a:t>
            </a:r>
          </a:p>
          <a:p>
            <a:pPr>
              <a:defRPr sz="1200">
                <a:solidFill>
                  <a:srgbClr val="0F172A"/>
                </a:solidFill>
              </a:defRPr>
            </a:pPr>
            <a:r>
              <a:t>• Factor 2: Fulfillment Ratio ➔ Score 0 if ≥90% | Score 1 if 50-89% | Score 2 if 1-49% | Score 3 if 0%.</a:t>
            </a:r>
          </a:p>
          <a:p>
            <a:pPr>
              <a:defRPr sz="1200">
                <a:solidFill>
                  <a:srgbClr val="0F172A"/>
                </a:solidFill>
              </a:defRPr>
            </a:pPr>
            <a:r>
              <a:t>• Factor 3: Inbound Shipment Transit Health ➔ Score 0 if Early/On-Time | Score 1 if On-Schedule In-Transit | Score 2 if Late 1-3 days | Score 3 if Late 4+ days or missing upstream links.</a:t>
            </a:r>
          </a:p>
          <a:p>
            <a:pPr>
              <a:defRPr sz="1200">
                <a:solidFill>
                  <a:srgbClr val="0F172A"/>
                </a:solidFill>
              </a:defRPr>
            </a:pPr>
            <a:r>
              <a:t>• Factor 4: Urgency Timeline ➔ Score 0 if &gt;14 days remaining | Score 1 if 7-14 days | Score 2 if 3-7 days | Score 3 if &lt;3 days or past due status.</a:t>
            </a:r>
          </a:p>
          <a:p>
            <a:pPr>
              <a:spcBef>
                <a:spcPts val="1400"/>
              </a:spcBef>
              <a:defRPr sz="1600" b="1">
                <a:solidFill>
                  <a:srgbClr val="0E7490"/>
                </a:solidFill>
              </a:defRPr>
            </a:pPr>
            <a:r>
              <a:t>Risk Level Classifications &amp; Action Threshold Triggers</a:t>
            </a:r>
          </a:p>
          <a:p>
            <a:pPr>
              <a:defRPr sz="1200">
                <a:solidFill>
                  <a:srgbClr val="0F172A"/>
                </a:solidFill>
              </a:defRPr>
            </a:pPr>
            <a:r>
              <a:t>• LOW RISK (Total Score 0-2): Order execution tracks completely on schedule. Normal continuous tracking, no flags.</a:t>
            </a:r>
          </a:p>
          <a:p>
            <a:pPr>
              <a:defRPr sz="1200">
                <a:solidFill>
                  <a:srgbClr val="0F172A"/>
                </a:solidFill>
              </a:defRPr>
            </a:pPr>
            <a:r>
              <a:t>• MEDIUM RISK (Total Score 3-5): Early exception warning patterns detected. System registers warning flags and updates monitoring dashboard logs.</a:t>
            </a:r>
          </a:p>
          <a:p>
            <a:pPr>
              <a:defRPr sz="1200">
                <a:solidFill>
                  <a:srgbClr val="0F172A"/>
                </a:solidFill>
              </a:defRPr>
            </a:pPr>
            <a:r>
              <a:t>• HIGH RISK (Total Score 6-8): Delayed order resolution highly probable. Triggers manual validation request and flags immediate remediation path.</a:t>
            </a:r>
          </a:p>
          <a:p>
            <a:pPr>
              <a:defRPr sz="1200">
                <a:solidFill>
                  <a:srgbClr val="0F172A"/>
                </a:solidFill>
              </a:defRPr>
            </a:pPr>
            <a:r>
              <a:t>• CRITICAL RISK (Total Score 9-12): Material stockout certain without intervention. Triggers downstream multi-step task loops and automates alerting vectors.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20095" cy="731520"/>
          </a:xfrm>
          <a:prstGeom prst="rect">
            <a:avLst/>
          </a:prstGeom>
          <a:noFill/>
        </p:spPr>
        <p:txBody>
          <a:bodyPr wrap="square">
            <a:spAutoFit/>
          </a:bodyPr>
          <a:lstStyle/>
          <a:p>
            <a:pPr>
              <a:defRPr sz="2800" b="1">
                <a:solidFill>
                  <a:srgbClr val="0F172A"/>
                </a:solidFill>
                <a:latin typeface="Arial"/>
              </a:defRPr>
            </a:pPr>
            <a:r>
              <a:t>Architecture Step 3: Minimalist Event-Driven Alert Pipeline</a:t>
            </a:r>
          </a:p>
        </p:txBody>
      </p:sp>
      <p:sp>
        <p:nvSpPr>
          <p:cNvPr id="4" name="Rectangle 3"/>
          <p:cNvSpPr/>
          <p:nvPr/>
        </p:nvSpPr>
        <p:spPr>
          <a:xfrm>
            <a:off x="685800" y="1188720"/>
            <a:ext cx="108200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71600"/>
            <a:ext cx="10820095" cy="5029200"/>
          </a:xfrm>
          <a:prstGeom prst="rect">
            <a:avLst/>
          </a:prstGeom>
          <a:noFill/>
        </p:spPr>
        <p:txBody>
          <a:bodyPr wrap="square">
            <a:spAutoFit/>
          </a:bodyPr>
          <a:lstStyle/>
          <a:p>
            <a:pPr>
              <a:defRPr sz="1600" b="1">
                <a:solidFill>
                  <a:srgbClr val="2563EB"/>
                </a:solidFill>
              </a:defRPr>
            </a:pPr>
            <a:r>
              <a:t>Operational Stream Strategy (Reduced from 9 Streams down to 3 Target Streams)</a:t>
            </a:r>
          </a:p>
          <a:p>
            <a:pPr>
              <a:defRPr sz="1200">
                <a:solidFill>
                  <a:srgbClr val="0F172A"/>
                </a:solidFill>
              </a:defRPr>
            </a:pPr>
            <a:r>
              <a:t>• STREAM_SHIPMENTS (Deployed on SHIPMENTS): Watches operational logistics changes; isolates route delays or carrier adjustments.</a:t>
            </a:r>
          </a:p>
          <a:p>
            <a:pPr>
              <a:defRPr sz="1200">
                <a:solidFill>
                  <a:srgbClr val="0F172A"/>
                </a:solidFill>
              </a:defRPr>
            </a:pPr>
            <a:r>
              <a:t>• STREAM_INVENTORY (Deployed on INVENTORY): Catches material drawdowns; fires instantly when stock levels breach localized safety bounds.</a:t>
            </a:r>
          </a:p>
          <a:p>
            <a:pPr>
              <a:defRPr sz="1200">
                <a:solidFill>
                  <a:srgbClr val="0F172A"/>
                </a:solidFill>
              </a:defRPr>
            </a:pPr>
            <a:r>
              <a:t>• STREAM_ORDER_RISK (Deployed on DT_ORDER_FULFILLMENT): Captures algorithmic calculations; logs changes when an order flips to High or Critical.</a:t>
            </a:r>
          </a:p>
          <a:p>
            <a:pPr>
              <a:spcBef>
                <a:spcPts val="1400"/>
              </a:spcBef>
              <a:defRPr sz="1600" b="1">
                <a:solidFill>
                  <a:srgbClr val="0E7490"/>
                </a:solidFill>
              </a:defRPr>
            </a:pPr>
            <a:r>
              <a:t>Targeted Automation Task Strategy (3 Dedicated Operational Action Components)</a:t>
            </a:r>
          </a:p>
          <a:p>
            <a:pPr>
              <a:defRPr sz="1200">
                <a:solidFill>
                  <a:srgbClr val="0F172A"/>
                </a:solidFill>
              </a:defRPr>
            </a:pPr>
            <a:r>
              <a:t>• TASK_SHIPMENT_DELAY_ALERT: Consumes STREAM_SHIPMENTS data. Polls every 5 minutes using SYSTEM$STREAM_HAS_DATA. Pushes immediate exception summaries directly to Slack channel vectors and triggers the automated shipment expedite workflow.</a:t>
            </a:r>
          </a:p>
          <a:p>
            <a:pPr>
              <a:defRPr sz="1200">
                <a:solidFill>
                  <a:srgbClr val="0F172A"/>
                </a:solidFill>
              </a:defRPr>
            </a:pPr>
            <a:r>
              <a:t>• TASK_INVENTORY_LOW_ALERT: Consumes STREAM_INVENTORY data. Evaluates part constraints against reorder points and automatically signals the procurement agent to initialize material sourcing analysis playbooks.</a:t>
            </a:r>
          </a:p>
          <a:p>
            <a:pPr>
              <a:defRPr sz="1200">
                <a:solidFill>
                  <a:srgbClr val="0F172A"/>
                </a:solidFill>
              </a:defRPr>
            </a:pPr>
            <a:r>
              <a:t>• TASK_ORDER_RISK_ALERT: Consumes STREAM_ORDER_RISK records. Inspects live views to extract high-risk scores and inserts structured exceptions into SUPPLY_CHAIN_ALERTS to link downstream Jira tickets.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20095" cy="731520"/>
          </a:xfrm>
          <a:prstGeom prst="rect">
            <a:avLst/>
          </a:prstGeom>
          <a:noFill/>
        </p:spPr>
        <p:txBody>
          <a:bodyPr wrap="square">
            <a:spAutoFit/>
          </a:bodyPr>
          <a:lstStyle/>
          <a:p>
            <a:pPr>
              <a:defRPr sz="2800" b="1">
                <a:solidFill>
                  <a:srgbClr val="0F172A"/>
                </a:solidFill>
                <a:latin typeface="Arial"/>
              </a:defRPr>
            </a:pPr>
            <a:r>
              <a:t>The Governance Backbone: SUPPLY_CHAIN_ONTOLOGY</a:t>
            </a:r>
          </a:p>
        </p:txBody>
      </p:sp>
      <p:sp>
        <p:nvSpPr>
          <p:cNvPr id="4" name="Rectangle 3"/>
          <p:cNvSpPr/>
          <p:nvPr/>
        </p:nvSpPr>
        <p:spPr>
          <a:xfrm>
            <a:off x="685800" y="1188720"/>
            <a:ext cx="108200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71600"/>
            <a:ext cx="10820095" cy="5029200"/>
          </a:xfrm>
          <a:prstGeom prst="rect">
            <a:avLst/>
          </a:prstGeom>
          <a:noFill/>
        </p:spPr>
        <p:txBody>
          <a:bodyPr wrap="square">
            <a:spAutoFit/>
          </a:bodyPr>
          <a:lstStyle/>
          <a:p>
            <a:pPr>
              <a:defRPr sz="1600" b="1">
                <a:solidFill>
                  <a:srgbClr val="2563EB"/>
                </a:solidFill>
              </a:defRPr>
            </a:pPr>
            <a:r>
              <a:t>Structural Integration: 11 Entities, 8 Strategic Relationships, and 4 Canonical Metrics</a:t>
            </a:r>
          </a:p>
          <a:p>
            <a:pPr>
              <a:defRPr sz="1200">
                <a:solidFill>
                  <a:srgbClr val="0F172A"/>
                </a:solidFill>
              </a:defRPr>
            </a:pPr>
            <a:r>
              <a:t>• Metric 1: On-Time Delivery % (OTD%) ➔ Formula: SUM(on_time_count) * 100.0 / NULLIF(SUM(total_shipments), 0) | Source: DT_DELIVERY_PERF</a:t>
            </a:r>
          </a:p>
          <a:p>
            <a:pPr>
              <a:defRPr sz="1200">
                <a:solidFill>
                  <a:srgbClr val="0F172A"/>
                </a:solidFill>
              </a:defRPr>
            </a:pPr>
            <a:r>
              <a:t>• Metric 2: Fill Rate % ➔ Formula: SUM(fulfilled_quantity) / SUM(ordered_quantity) * 100.0 | Source: DT_ORDER_FULFILLMENT</a:t>
            </a:r>
          </a:p>
          <a:p>
            <a:pPr>
              <a:defRPr sz="1200">
                <a:solidFill>
                  <a:srgbClr val="0F172A"/>
                </a:solidFill>
              </a:defRPr>
            </a:pPr>
            <a:r>
              <a:t>• Metric 3: Days of Inventory (DOI) ➔ Formula: on_hand_quantity / daily_demand_calculation | Source: DT_INVENTORY_POSITION</a:t>
            </a:r>
          </a:p>
          <a:p>
            <a:pPr>
              <a:defRPr sz="1200">
                <a:solidFill>
                  <a:srgbClr val="0F172A"/>
                </a:solidFill>
              </a:defRPr>
            </a:pPr>
            <a:r>
              <a:t>• Metric 4: Landed Cost per Unit ➔ Formula: material_cost_base + freight_allocation + estimated_duty_charges | Source: DT_LANDED_COST</a:t>
            </a:r>
          </a:p>
          <a:p>
            <a:pPr>
              <a:spcBef>
                <a:spcPts val="1400"/>
              </a:spcBef>
              <a:defRPr sz="1600" b="1">
                <a:solidFill>
                  <a:srgbClr val="0E7490"/>
                </a:solidFill>
              </a:defRPr>
            </a:pPr>
            <a:r>
              <a:t>Implementation Pattern: SYSTEM$CREATE_SEMANTIC_VIEW_FROM_YAML (868 Lines)</a:t>
            </a:r>
          </a:p>
          <a:p>
            <a:pPr>
              <a:defRPr sz="1200">
                <a:solidFill>
                  <a:srgbClr val="0F172A"/>
                </a:solidFill>
              </a:defRPr>
            </a:pPr>
            <a:r>
              <a:t>• Single Definition Lock: Canonical metrics are compiled directly within the semantic layer framework. No client application or sub-agent can override calculation code dynamically.</a:t>
            </a:r>
          </a:p>
          <a:p>
            <a:pPr>
              <a:defRPr sz="1200">
                <a:solidFill>
                  <a:srgbClr val="0F172A"/>
                </a:solidFill>
              </a:defRPr>
            </a:pPr>
            <a:r>
              <a:t>• Logical Routing Engine: Translates standard text inputs directly into query constraints. Point queries for past data target structural base tables, while complex analytics route to dynamic tables.</a:t>
            </a:r>
          </a:p>
          <a:p>
            <a:pPr>
              <a:defRPr sz="1200">
                <a:solidFill>
                  <a:srgbClr val="0F172A"/>
                </a:solidFill>
              </a:defRPr>
            </a:pPr>
            <a:r>
              <a:t>• Abstracted Business Vocabulary: Completely strips out cryptic database column syntax. Translates underlying physical names into plain business concepts like 'Carrier Performance' or 'Landed Overheads'.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20095" cy="731520"/>
          </a:xfrm>
          <a:prstGeom prst="rect">
            <a:avLst/>
          </a:prstGeom>
          <a:noFill/>
        </p:spPr>
        <p:txBody>
          <a:bodyPr wrap="square">
            <a:spAutoFit/>
          </a:bodyPr>
          <a:lstStyle/>
          <a:p>
            <a:pPr>
              <a:defRPr sz="2800" b="1">
                <a:solidFill>
                  <a:srgbClr val="0F172A"/>
                </a:solidFill>
                <a:latin typeface="Arial"/>
              </a:defRPr>
            </a:pPr>
            <a:r>
              <a:t>Semantic Guardrails: 14 Verified Query Records (VQRs)</a:t>
            </a:r>
          </a:p>
        </p:txBody>
      </p:sp>
      <p:sp>
        <p:nvSpPr>
          <p:cNvPr id="4" name="Rectangle 3"/>
          <p:cNvSpPr/>
          <p:nvPr/>
        </p:nvSpPr>
        <p:spPr>
          <a:xfrm>
            <a:off x="685800" y="1188720"/>
            <a:ext cx="108200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71600"/>
            <a:ext cx="10820095" cy="5029200"/>
          </a:xfrm>
          <a:prstGeom prst="rect">
            <a:avLst/>
          </a:prstGeom>
          <a:noFill/>
        </p:spPr>
        <p:txBody>
          <a:bodyPr wrap="square">
            <a:spAutoFit/>
          </a:bodyPr>
          <a:lstStyle/>
          <a:p>
            <a:pPr>
              <a:defRPr sz="1600" b="1">
                <a:solidFill>
                  <a:srgbClr val="2563EB"/>
                </a:solidFill>
              </a:defRPr>
            </a:pPr>
            <a:r>
              <a:t>Pre-Validated Question-to-SQL Mappings to Prevent Silent Calculation Hallucinations</a:t>
            </a:r>
          </a:p>
          <a:p>
            <a:pPr>
              <a:defRPr sz="1200">
                <a:solidFill>
                  <a:srgbClr val="0F172A"/>
                </a:solidFill>
              </a:defRPr>
            </a:pPr>
            <a:r>
              <a:t>• Core Metric Group (1-4): Explicit templates tracking supplier OTD lookups, plant fill rate percentages, precise double-filtering for part-plant DOI evaluations, and 3-component total landed cost math calculations.</a:t>
            </a:r>
          </a:p>
          <a:p>
            <a:pPr>
              <a:defRPr sz="1200">
                <a:solidFill>
                  <a:srgbClr val="0F172A"/>
                </a:solidFill>
              </a:defRPr>
            </a:pPr>
            <a:r>
              <a:t>• Threshold Trigger Group (5-8): Mappings protecting intent phrases like 'at risk orders' (maps to High/Critical states), 'parts needing reorder' (maps to reorder_point bounds), and complex mathematical filters like DOI values dropped below 3 days.</a:t>
            </a:r>
          </a:p>
          <a:p>
            <a:pPr>
              <a:defRPr sz="1200">
                <a:solidFill>
                  <a:srgbClr val="0F172A"/>
                </a:solidFill>
              </a:defRPr>
            </a:pPr>
            <a:r>
              <a:t>• Time-Series Horizon Group (9-10): Pre-built monthly grouping aggregations protecting trend timelines across moving multi-month horizons for both supplier delivery history and plant fulfillment lines.</a:t>
            </a:r>
          </a:p>
          <a:p>
            <a:pPr>
              <a:defRPr sz="1200">
                <a:solidFill>
                  <a:srgbClr val="0F172A"/>
                </a:solidFill>
              </a:defRPr>
            </a:pPr>
            <a:r>
              <a:t>• Cross-Domain Group (11-14): Validated schemas managing complex multi-table joins. Enforces exact join conditions for mixed questions like comparing supplier costs against delivery metrics, or matching late shipments to open orders.</a:t>
            </a:r>
          </a:p>
          <a:p>
            <a:pPr>
              <a:spcBef>
                <a:spcPts val="1400"/>
              </a:spcBef>
              <a:defRPr sz="1600" b="1">
                <a:solidFill>
                  <a:srgbClr val="0E7490"/>
                </a:solidFill>
              </a:defRPr>
            </a:pPr>
            <a:r>
              <a:t>Cortex Analyst Resolution Priority Hierarchy</a:t>
            </a:r>
          </a:p>
          <a:p>
            <a:pPr>
              <a:defRPr sz="1200">
                <a:solidFill>
                  <a:srgbClr val="0F172A"/>
                </a:solidFill>
              </a:defRPr>
            </a:pPr>
            <a:r>
              <a:t>• Priority 1 ➔ Exact VQR Structure Match: Emits pre-validated, hand-shake SQL code with absolute mathematical precision.</a:t>
            </a:r>
          </a:p>
          <a:p>
            <a:pPr>
              <a:defRPr sz="1200">
                <a:solidFill>
                  <a:srgbClr val="0F172A"/>
                </a:solidFill>
              </a:defRPr>
            </a:pPr>
            <a:r>
              <a:t>• Priority 2 ➔ Dynamic Semantic View Synthesis: Generates dynamic SQL logic using defined dimensions, measures, and entity relationships.</a:t>
            </a:r>
          </a:p>
          <a:p>
            <a:pPr>
              <a:defRPr sz="1200">
                <a:solidFill>
                  <a:srgbClr val="0F172A"/>
                </a:solidFill>
              </a:defRPr>
            </a:pPr>
            <a:r>
              <a:t>• Priority 3 ➔ Out-of-Scope Safe Refusal: If requests stray outside semantic boundaries, the engine returns a clean notification rather than inventing text.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11DAE8-C480-1B48-8D17-2FAFE3DABD1C}"/>
              </a:ext>
            </a:extLst>
          </p:cNvPr>
          <p:cNvPicPr>
            <a:picLocks noChangeAspect="1"/>
          </p:cNvPicPr>
          <p:nvPr/>
        </p:nvPicPr>
        <p:blipFill>
          <a:blip r:embed="rId2"/>
          <a:stretch>
            <a:fillRect/>
          </a:stretch>
        </p:blipFill>
        <p:spPr>
          <a:xfrm>
            <a:off x="0" y="177281"/>
            <a:ext cx="12192000" cy="6503438"/>
          </a:xfrm>
          <a:prstGeom prst="rect">
            <a:avLst/>
          </a:prstGeom>
        </p:spPr>
      </p:pic>
    </p:spTree>
    <p:extLst>
      <p:ext uri="{BB962C8B-B14F-4D97-AF65-F5344CB8AC3E}">
        <p14:creationId xmlns:p14="http://schemas.microsoft.com/office/powerpoint/2010/main" val="27292312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20095" cy="731520"/>
          </a:xfrm>
          <a:prstGeom prst="rect">
            <a:avLst/>
          </a:prstGeom>
          <a:noFill/>
        </p:spPr>
        <p:txBody>
          <a:bodyPr wrap="square">
            <a:spAutoFit/>
          </a:bodyPr>
          <a:lstStyle/>
          <a:p>
            <a:pPr>
              <a:defRPr sz="2800" b="1">
                <a:solidFill>
                  <a:srgbClr val="0F172A"/>
                </a:solidFill>
                <a:latin typeface="Arial"/>
              </a:defRPr>
            </a:pPr>
            <a:r>
              <a:t>Multi-Agent Architecture: Primary Router Framework</a:t>
            </a:r>
          </a:p>
        </p:txBody>
      </p:sp>
      <p:sp>
        <p:nvSpPr>
          <p:cNvPr id="4" name="Rectangle 3"/>
          <p:cNvSpPr/>
          <p:nvPr/>
        </p:nvSpPr>
        <p:spPr>
          <a:xfrm>
            <a:off x="685800" y="1188720"/>
            <a:ext cx="108200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71600"/>
            <a:ext cx="10820095" cy="5029200"/>
          </a:xfrm>
          <a:prstGeom prst="rect">
            <a:avLst/>
          </a:prstGeom>
          <a:noFill/>
        </p:spPr>
        <p:txBody>
          <a:bodyPr wrap="square">
            <a:spAutoFit/>
          </a:bodyPr>
          <a:lstStyle/>
          <a:p>
            <a:pPr>
              <a:defRPr sz="1600" b="1">
                <a:solidFill>
                  <a:srgbClr val="2563EB"/>
                </a:solidFill>
              </a:defRPr>
            </a:pPr>
            <a:r>
              <a:t>SUPPLY_CHAIN_AGENT: Central Orchestrator &amp; Smart Routing Mesh</a:t>
            </a:r>
          </a:p>
          <a:p>
            <a:pPr>
              <a:defRPr sz="1200">
                <a:solidFill>
                  <a:srgbClr val="0F172A"/>
                </a:solidFill>
              </a:defRPr>
            </a:pPr>
            <a:r>
              <a:t>• The Central Interface: Serves as the primary touchpoint for all user requests, parsing intents and maintaining data visibility.</a:t>
            </a:r>
          </a:p>
          <a:p>
            <a:pPr>
              <a:defRPr sz="1200">
                <a:solidFill>
                  <a:srgbClr val="0F172A"/>
                </a:solidFill>
              </a:defRPr>
            </a:pPr>
            <a:r>
              <a:t>• Core Capabilities: Resolves data-lookup requests directly using Cortex Analyst and renders data visualizations with data_to_chart tools.</a:t>
            </a:r>
          </a:p>
          <a:p>
            <a:pPr>
              <a:defRPr sz="1200">
                <a:solidFill>
                  <a:srgbClr val="0F172A"/>
                </a:solidFill>
              </a:defRPr>
            </a:pPr>
            <a:r>
              <a:t>• Smart Delegation Strategy: Holds zero internal skills directly. Delegates deep analytical queries down to specialized domain sub-agents via integrated agent_toolset routing logic.</a:t>
            </a:r>
          </a:p>
          <a:p>
            <a:pPr>
              <a:defRPr sz="1200">
                <a:solidFill>
                  <a:srgbClr val="0F172A"/>
                </a:solidFill>
              </a:defRPr>
            </a:pPr>
            <a:r>
              <a:t>• System Constraints: Enforces 60-second runtime ceilings and 32,000 token boundaries. Uses tool_not_accessible = ACCEPT to support graceful fallback if users lack underlying access roles.</a:t>
            </a:r>
          </a:p>
          <a:p>
            <a:pPr>
              <a:spcBef>
                <a:spcPts val="1400"/>
              </a:spcBef>
              <a:defRPr sz="1600" b="1">
                <a:solidFill>
                  <a:srgbClr val="0E7490"/>
                </a:solidFill>
              </a:defRPr>
            </a:pPr>
            <a:r>
              <a:t>Specialized Handoff Scenarios</a:t>
            </a:r>
          </a:p>
          <a:p>
            <a:pPr>
              <a:defRPr sz="1200">
                <a:solidFill>
                  <a:srgbClr val="0F172A"/>
                </a:solidFill>
              </a:defRPr>
            </a:pPr>
            <a:r>
              <a:t>• Logistics to Procurement Transition: When a shipment risk assessment isolates an underlying stock shortage rather than an expected transit delay, the Logistics sub-agent hands off tracking data directly to the Procurement reorder workflow.</a:t>
            </a:r>
          </a:p>
          <a:p>
            <a:pPr>
              <a:defRPr sz="1200">
                <a:solidFill>
                  <a:srgbClr val="0F172A"/>
                </a:solidFill>
              </a:defRPr>
            </a:pPr>
            <a:r>
              <a:t>• Procurement to Planning Transition: When bulk reorder evaluations require forward-looking projections, the Procurement agent queries the Planning sub-agent to fetch ML demand forecast intervals.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20095" cy="731520"/>
          </a:xfrm>
          <a:prstGeom prst="rect">
            <a:avLst/>
          </a:prstGeom>
          <a:noFill/>
        </p:spPr>
        <p:txBody>
          <a:bodyPr wrap="square">
            <a:spAutoFit/>
          </a:bodyPr>
          <a:lstStyle/>
          <a:p>
            <a:pPr>
              <a:defRPr sz="2800" b="1">
                <a:solidFill>
                  <a:srgbClr val="0F172A"/>
                </a:solidFill>
                <a:latin typeface="Arial"/>
              </a:defRPr>
            </a:pPr>
            <a:r>
              <a:t>Domain-Specific Sub-Agents &amp; Capability Profile</a:t>
            </a:r>
          </a:p>
        </p:txBody>
      </p:sp>
      <p:sp>
        <p:nvSpPr>
          <p:cNvPr id="4" name="Rectangle 3"/>
          <p:cNvSpPr/>
          <p:nvPr/>
        </p:nvSpPr>
        <p:spPr>
          <a:xfrm>
            <a:off x="685800" y="1188720"/>
            <a:ext cx="108200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71600"/>
            <a:ext cx="10820095" cy="5029200"/>
          </a:xfrm>
          <a:prstGeom prst="rect">
            <a:avLst/>
          </a:prstGeom>
          <a:noFill/>
        </p:spPr>
        <p:txBody>
          <a:bodyPr wrap="square">
            <a:spAutoFit/>
          </a:bodyPr>
          <a:lstStyle/>
          <a:p>
            <a:endParaRPr/>
          </a:p>
          <a:p>
            <a:pPr>
              <a:spcBef>
                <a:spcPts val="800"/>
              </a:spcBef>
              <a:defRPr sz="1400" b="1">
                <a:solidFill>
                  <a:srgbClr val="2563EB"/>
                </a:solidFill>
              </a:defRPr>
            </a:pPr>
            <a:r>
              <a:t>PROCUREMENT_AGENT (Sourcing &amp; Financial Guardrails)</a:t>
            </a:r>
          </a:p>
          <a:p>
            <a:pPr>
              <a:defRPr sz="1200">
                <a:solidFill>
                  <a:srgbClr val="0F172A"/>
                </a:solidFill>
              </a:defRPr>
            </a:pPr>
            <a:r>
              <a:t>Owns 3 specialized skills (supplier_scorecard, cost_analyzer, reorder_advisor) and executes 3 database write procedures (GENERATE_SCORECARD, CREATE_PURCHASE_ORDER, UPDATE_SUPPLIER_RATING). Tracks cost optimization metrics, validates supplier capacities, and routes directly to Jira, Gmail, and Slack systems.</a:t>
            </a:r>
          </a:p>
          <a:p>
            <a:pPr>
              <a:spcBef>
                <a:spcPts val="800"/>
              </a:spcBef>
              <a:defRPr sz="1400" b="1">
                <a:solidFill>
                  <a:srgbClr val="2563EB"/>
                </a:solidFill>
              </a:defRPr>
            </a:pPr>
            <a:r>
              <a:t>PLANNING_AGENT (Demand Forecasting &amp; Inventory Optimization)</a:t>
            </a:r>
          </a:p>
          <a:p>
            <a:pPr>
              <a:defRPr sz="1200">
                <a:solidFill>
                  <a:srgbClr val="0F172A"/>
                </a:solidFill>
              </a:defRPr>
            </a:pPr>
            <a:r>
              <a:t>Analytics-focused specialist. Contains zero database write permissions. Evaluates inventory parameters using 2 core skills (demand_planner, reorder_advisor). Connects directly to Cortex Analyst and interacts externally via Slack channel connections.</a:t>
            </a:r>
          </a:p>
          <a:p>
            <a:pPr>
              <a:spcBef>
                <a:spcPts val="800"/>
              </a:spcBef>
              <a:defRPr sz="1400" b="1">
                <a:solidFill>
                  <a:srgbClr val="2563EB"/>
                </a:solidFill>
              </a:defRPr>
            </a:pPr>
            <a:r>
              <a:t>LOGISTICS_AGENT (In-Transit Tracking &amp; Operational Remediation)</a:t>
            </a:r>
          </a:p>
          <a:p>
            <a:pPr>
              <a:defRPr sz="1200">
                <a:solidFill>
                  <a:srgbClr val="0F172A"/>
                </a:solidFill>
              </a:defRPr>
            </a:pPr>
            <a:r>
              <a:t>Logistics remediation engine. Tracks transport routes via the shipment_tracker skill. Calls 2 write-back procedures (TRIGGER_EXPEDITE, UPDATE_ALERT_JIRA) to update records, initialize tracking tickets via Jira, and send Slack notifications.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20095" cy="731520"/>
          </a:xfrm>
          <a:prstGeom prst="rect">
            <a:avLst/>
          </a:prstGeom>
          <a:noFill/>
        </p:spPr>
        <p:txBody>
          <a:bodyPr wrap="square">
            <a:spAutoFit/>
          </a:bodyPr>
          <a:lstStyle/>
          <a:p>
            <a:pPr>
              <a:defRPr sz="2800" b="1">
                <a:solidFill>
                  <a:srgbClr val="0F172A"/>
                </a:solidFill>
                <a:latin typeface="Arial"/>
              </a:defRPr>
            </a:pPr>
            <a:r>
              <a:t>Modular Architecture: Reusable Stage-Hosted Skills</a:t>
            </a:r>
          </a:p>
        </p:txBody>
      </p:sp>
      <p:sp>
        <p:nvSpPr>
          <p:cNvPr id="4" name="Rectangle 3"/>
          <p:cNvSpPr/>
          <p:nvPr/>
        </p:nvSpPr>
        <p:spPr>
          <a:xfrm>
            <a:off x="685800" y="1188720"/>
            <a:ext cx="108200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71600"/>
            <a:ext cx="10820095" cy="5029200"/>
          </a:xfrm>
          <a:prstGeom prst="rect">
            <a:avLst/>
          </a:prstGeom>
          <a:noFill/>
        </p:spPr>
        <p:txBody>
          <a:bodyPr wrap="square">
            <a:spAutoFit/>
          </a:bodyPr>
          <a:lstStyle/>
          <a:p>
            <a:pPr>
              <a:defRPr sz="1500" b="1">
                <a:solidFill>
                  <a:srgbClr val="0E7490"/>
                </a:solidFill>
              </a:defRPr>
            </a:pPr>
            <a:r>
              <a:t>Declarative Playbook Strategy (Markdown Files Hosted Globally on SKILL_STAGE)</a:t>
            </a:r>
          </a:p>
          <a:p>
            <a:pPr>
              <a:defRPr sz="1100">
                <a:solidFill>
                  <a:srgbClr val="0F172A"/>
                </a:solidFill>
              </a:defRPr>
            </a:pPr>
            <a:r>
              <a:t>• supplier_scorecard: Instructs agents to evaluate vendor delivery histories. Pulls composite data structures from GENERATE_SCORECARD UDF, automatically ranks candidate vendors, and flags poor performers.</a:t>
            </a:r>
          </a:p>
          <a:p>
            <a:pPr>
              <a:defRPr sz="1100">
                <a:solidFill>
                  <a:srgbClr val="0F172A"/>
                </a:solidFill>
              </a:defRPr>
            </a:pPr>
            <a:r>
              <a:t>• cost_analyzer: Drives granular material cost deep-dives. Breaks unit costs into raw material, freight allocations, and destination country duties. Cross-references quality data to map a clear value-metric matrix.</a:t>
            </a:r>
          </a:p>
          <a:p>
            <a:pPr>
              <a:defRPr sz="1100">
                <a:solidFill>
                  <a:srgbClr val="0F172A"/>
                </a:solidFill>
              </a:defRPr>
            </a:pPr>
            <a:r>
              <a:t>• demand_planner: Manages forecasting engine calls. Pulls statistics from the multi-series Snowflake ML model, extracts trend angles, detects seasonality, and implements strict training data anomaly filters.</a:t>
            </a:r>
          </a:p>
          <a:p>
            <a:pPr>
              <a:defRPr sz="1100">
                <a:solidFill>
                  <a:srgbClr val="0F172A"/>
                </a:solidFill>
              </a:defRPr>
            </a:pPr>
            <a:r>
              <a:t>• reorder_advisor: Connects complex workflows. Scans stock gaps, queries demand predictions, reviews vendor options, evaluates budget constraints, and compiles editable purchase order proposals.</a:t>
            </a:r>
          </a:p>
          <a:p>
            <a:pPr>
              <a:defRPr sz="1100">
                <a:solidFill>
                  <a:srgbClr val="0F172A"/>
                </a:solidFill>
              </a:defRPr>
            </a:pPr>
            <a:r>
              <a:t>• shipment_tracker: Monitors global logistics execution. Classifies moving shipments into 4 risk tiers, models delays using carrier history, and drives the system expedite pipeline for critical transit failures.</a:t>
            </a:r>
          </a:p>
          <a:p>
            <a:pPr>
              <a:spcBef>
                <a:spcPts val="1000"/>
              </a:spcBef>
              <a:defRPr sz="1500" b="1">
                <a:solidFill>
                  <a:srgbClr val="2563EB"/>
                </a:solidFill>
              </a:defRPr>
            </a:pPr>
            <a:r>
              <a:t>Structural Distinction: Skills vs. Custom Tools</a:t>
            </a:r>
          </a:p>
          <a:p>
            <a:pPr>
              <a:defRPr sz="1100">
                <a:solidFill>
                  <a:srgbClr val="0F172A"/>
                </a:solidFill>
              </a:defRPr>
            </a:pPr>
            <a:r>
              <a:t>• Playbook Skills (Flexible Thinking Framework): Markdown files that define analytical playbooks. They teach agents how to process complex conditions and structure recommendations step-by-step.</a:t>
            </a:r>
          </a:p>
          <a:p>
            <a:pPr>
              <a:defRPr sz="1100">
                <a:solidFill>
                  <a:srgbClr val="0F172A"/>
                </a:solidFill>
              </a:defRPr>
            </a:pPr>
            <a:r>
              <a:t>• Custom Tools (Deterministic Code Blocks): Registered Snowflake stored procedures and UDFs with strict input constraints. They manage database writes and interface mutations safely and predictably.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20095" cy="731520"/>
          </a:xfrm>
          <a:prstGeom prst="rect">
            <a:avLst/>
          </a:prstGeom>
          <a:noFill/>
        </p:spPr>
        <p:txBody>
          <a:bodyPr wrap="square">
            <a:spAutoFit/>
          </a:bodyPr>
          <a:lstStyle/>
          <a:p>
            <a:pPr>
              <a:defRPr sz="2800" b="1">
                <a:solidFill>
                  <a:srgbClr val="0F172A"/>
                </a:solidFill>
                <a:latin typeface="Arial"/>
              </a:defRPr>
            </a:pPr>
            <a:r>
              <a:t>Custom Tools &amp; Writing Logic with Guardrails</a:t>
            </a:r>
          </a:p>
        </p:txBody>
      </p:sp>
      <p:sp>
        <p:nvSpPr>
          <p:cNvPr id="4" name="Rectangle 3"/>
          <p:cNvSpPr/>
          <p:nvPr/>
        </p:nvSpPr>
        <p:spPr>
          <a:xfrm>
            <a:off x="685800" y="1188720"/>
            <a:ext cx="108200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71600"/>
            <a:ext cx="10820095" cy="5029200"/>
          </a:xfrm>
          <a:prstGeom prst="rect">
            <a:avLst/>
          </a:prstGeom>
          <a:noFill/>
        </p:spPr>
        <p:txBody>
          <a:bodyPr wrap="square">
            <a:spAutoFit/>
          </a:bodyPr>
          <a:lstStyle/>
          <a:p>
            <a:pPr>
              <a:defRPr sz="1500" b="1">
                <a:solidFill>
                  <a:srgbClr val="2563EB"/>
                </a:solidFill>
              </a:defRPr>
            </a:pPr>
            <a:r>
              <a:t>The 5 Stored Procedures &amp; UDF Components</a:t>
            </a:r>
          </a:p>
          <a:p>
            <a:pPr>
              <a:defRPr sz="1100">
                <a:solidFill>
                  <a:srgbClr val="0F172A"/>
                </a:solidFill>
              </a:defRPr>
            </a:pPr>
            <a:r>
              <a:t>• GENERATE_SCORECARD (UDF): Read-only logic block. Computes a multi-factor vendor score (40% On-Time Delivery performance, 30% item quality rating, 30% landed cost positioning).</a:t>
            </a:r>
          </a:p>
          <a:p>
            <a:pPr>
              <a:defRPr sz="1100">
                <a:solidFill>
                  <a:srgbClr val="0F172A"/>
                </a:solidFill>
              </a:defRPr>
            </a:pPr>
            <a:r>
              <a:t>• CREATE_PURCHASE_ORDER (Stored Procedure): Validates part registries, checks vendor limits, runs quantity checks, enforces budget limits ($50K cap), and logs new orders into physical data rows.</a:t>
            </a:r>
          </a:p>
          <a:p>
            <a:pPr>
              <a:defRPr sz="1100">
                <a:solidFill>
                  <a:srgbClr val="0F172A"/>
                </a:solidFill>
              </a:defRPr>
            </a:pPr>
            <a:r>
              <a:t>• TRIGGER_EXPEDITE (Stored Procedure): Unified logistics tool. Modifies transport priority codes, populates tracking timestamps, logs alerts, and calls external systems via MCP vectors.</a:t>
            </a:r>
          </a:p>
          <a:p>
            <a:pPr>
              <a:defRPr sz="1100">
                <a:solidFill>
                  <a:srgbClr val="0F172A"/>
                </a:solidFill>
              </a:defRPr>
            </a:pPr>
            <a:r>
              <a:t>• UPDATE_SUPPLIER_RATING (Stored Procedure): Adjusts vendor tiers. Implements strict bounds (max 1-tier adjustment per execution) and logs manual overrides with text tracking fields.</a:t>
            </a:r>
          </a:p>
          <a:p>
            <a:pPr>
              <a:defRPr sz="1100">
                <a:solidFill>
                  <a:srgbClr val="0F172A"/>
                </a:solidFill>
              </a:defRPr>
            </a:pPr>
            <a:r>
              <a:t>• UPDATE_ALERT_JIRA (Stored Procedure): Database-to-ticket mapper. Matches fresh engineering issue keys back to active exceptions in SUPPLY_CHAIN_ALERTS to maintain complete lifecycle tracking.</a:t>
            </a:r>
          </a:p>
          <a:p>
            <a:pPr>
              <a:spcBef>
                <a:spcPts val="1000"/>
              </a:spcBef>
              <a:defRPr sz="1500" b="1">
                <a:solidFill>
                  <a:srgbClr val="0E7490"/>
                </a:solidFill>
              </a:defRPr>
            </a:pPr>
            <a:r>
              <a:t>Deep Dive: End-to-End Transit Expedite Workflow Execution Mechanics</a:t>
            </a:r>
          </a:p>
          <a:p>
            <a:pPr>
              <a:defRPr sz="1100">
                <a:solidFill>
                  <a:srgbClr val="0F172A"/>
                </a:solidFill>
              </a:defRPr>
            </a:pPr>
            <a:r>
              <a:t>Step 1: System Identification ➔ The agent runs the shipment_tracker skill to flag transport delays and isolate order risk impacts.</a:t>
            </a:r>
          </a:p>
          <a:p>
            <a:pPr>
              <a:defRPr sz="1100">
                <a:solidFill>
                  <a:srgbClr val="0F172A"/>
                </a:solidFill>
              </a:defRPr>
            </a:pPr>
            <a:r>
              <a:t>Step 2: Guardrail Evaluation ➔ Validates record states, enforces a 48-hour duplicate block, and checks the 3-escalation limit constraint.</a:t>
            </a:r>
          </a:p>
          <a:p>
            <a:pPr>
              <a:defRPr sz="1100">
                <a:solidFill>
                  <a:srgbClr val="0F172A"/>
                </a:solidFill>
              </a:defRPr>
            </a:pPr>
            <a:r>
              <a:t>Step 3: Interface Confirmation ➔ Presents the entire operational proposal to the user, blocking execution until receiving explicit approval.</a:t>
            </a:r>
          </a:p>
          <a:p>
            <a:pPr>
              <a:defRPr sz="1100">
                <a:solidFill>
                  <a:srgbClr val="0F172A"/>
                </a:solidFill>
              </a:defRPr>
            </a:pPr>
            <a:r>
              <a:t>Step 4: Database Update ➔ Executes the stored procedure to update row priorities and log active rows into the internal exceptions database.</a:t>
            </a:r>
          </a:p>
          <a:p>
            <a:pPr>
              <a:defRPr sz="1100">
                <a:solidFill>
                  <a:srgbClr val="0F172A"/>
                </a:solidFill>
              </a:defRPr>
            </a:pPr>
            <a:r>
              <a:t>Step 5: Jira Issue Projection ➔ Calls ATLASSIAN_MCP to construct an engineering tracking issue and routes it based on issue type.</a:t>
            </a:r>
          </a:p>
          <a:p>
            <a:pPr>
              <a:defRPr sz="1100">
                <a:solidFill>
                  <a:srgbClr val="0F172A"/>
                </a:solidFill>
              </a:defRPr>
            </a:pPr>
            <a:r>
              <a:t>Step 6: Real-Time Team Alerting ➔ Links tracking metrics across Slack channels and auto-closes tickets when material deliveries are logged.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20095" cy="731520"/>
          </a:xfrm>
          <a:prstGeom prst="rect">
            <a:avLst/>
          </a:prstGeom>
          <a:noFill/>
        </p:spPr>
        <p:txBody>
          <a:bodyPr wrap="square">
            <a:spAutoFit/>
          </a:bodyPr>
          <a:lstStyle/>
          <a:p>
            <a:pPr>
              <a:defRPr sz="2800" b="1">
                <a:solidFill>
                  <a:srgbClr val="0F172A"/>
                </a:solidFill>
                <a:latin typeface="Arial"/>
              </a:defRPr>
            </a:pPr>
            <a:r>
              <a:t>Role-Based Access Control &amp; Column Masking Matrix</a:t>
            </a:r>
          </a:p>
        </p:txBody>
      </p:sp>
      <p:sp>
        <p:nvSpPr>
          <p:cNvPr id="4" name="Rectangle 3"/>
          <p:cNvSpPr/>
          <p:nvPr/>
        </p:nvSpPr>
        <p:spPr>
          <a:xfrm>
            <a:off x="685800" y="1188720"/>
            <a:ext cx="108200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71600"/>
            <a:ext cx="10820095" cy="5029200"/>
          </a:xfrm>
          <a:prstGeom prst="rect">
            <a:avLst/>
          </a:prstGeom>
          <a:noFill/>
        </p:spPr>
        <p:txBody>
          <a:bodyPr wrap="square">
            <a:spAutoFit/>
          </a:bodyPr>
          <a:lstStyle/>
          <a:p>
            <a:pPr>
              <a:defRPr sz="1600" b="1">
                <a:solidFill>
                  <a:srgbClr val="2563EB"/>
                </a:solidFill>
              </a:defRPr>
            </a:pPr>
            <a:r>
              <a:t>Security Split Design Choice: Base Masking over Fragmented Views</a:t>
            </a:r>
          </a:p>
          <a:p>
            <a:pPr>
              <a:defRPr sz="1200">
                <a:solidFill>
                  <a:srgbClr val="0F172A"/>
                </a:solidFill>
              </a:defRPr>
            </a:pPr>
            <a:r>
              <a:t>• Rejected Security Design: Constructing hundreds of individual role-specific views (e.g., 3 separate filtered views per table) to split user access boundaries.</a:t>
            </a:r>
          </a:p>
          <a:p>
            <a:pPr>
              <a:defRPr sz="1200">
                <a:solidFill>
                  <a:srgbClr val="0F172A"/>
                </a:solidFill>
              </a:defRPr>
            </a:pPr>
            <a:r>
              <a:t>• The Flaw: Creates massive object overhead (~39 extra views) and fragments semantic architectures, forcing maintenance code updates whenever base rules change.</a:t>
            </a:r>
          </a:p>
          <a:p>
            <a:pPr>
              <a:defRPr sz="1200">
                <a:solidFill>
                  <a:srgbClr val="0F172A"/>
                </a:solidFill>
              </a:defRPr>
            </a:pPr>
            <a:r>
              <a:t>• Selected Security Design: Standardize on 5 native column masking policies deployed directly onto physical base tables and analytical dynamic engines.</a:t>
            </a:r>
          </a:p>
          <a:p>
            <a:pPr>
              <a:defRPr sz="1200">
                <a:solidFill>
                  <a:srgbClr val="0F172A"/>
                </a:solidFill>
              </a:defRPr>
            </a:pPr>
            <a:r>
              <a:t>• The Logic: Snowflake manages data access security at the engine level. The semantic model maps to the same central database for all users, maintaining structural consistency automatically.</a:t>
            </a:r>
          </a:p>
          <a:p>
            <a:pPr>
              <a:spcBef>
                <a:spcPts val="1400"/>
              </a:spcBef>
              <a:defRPr sz="1600" b="1">
                <a:solidFill>
                  <a:srgbClr val="0E7490"/>
                </a:solidFill>
              </a:defRPr>
            </a:pPr>
            <a:r>
              <a:t>The 5 Engine-Level Masking Policies &amp; Persona Boundaries</a:t>
            </a:r>
          </a:p>
          <a:p>
            <a:pPr>
              <a:defRPr sz="1200">
                <a:solidFill>
                  <a:srgbClr val="0F172A"/>
                </a:solidFill>
              </a:defRPr>
            </a:pPr>
            <a:r>
              <a:t>• COST_DATA_MASK: Masks unit pricing, freight metrics, and landed costs. Completely restricts Planning and Logistics roles while granting full access to Procurement.</a:t>
            </a:r>
          </a:p>
          <a:p>
            <a:pPr>
              <a:defRPr sz="1200">
                <a:solidFill>
                  <a:srgbClr val="0F172A"/>
                </a:solidFill>
              </a:defRPr>
            </a:pPr>
            <a:r>
              <a:t>• SUPPLIER_DETAIL_MASK: Limits vendor health profiles and carrier details. Restricts the Planning analyst while allowing visibility for Procurement and Logistics.</a:t>
            </a:r>
          </a:p>
          <a:p>
            <a:pPr>
              <a:defRPr sz="1200">
                <a:solidFill>
                  <a:srgbClr val="0F172A"/>
                </a:solidFill>
              </a:defRPr>
            </a:pPr>
            <a:r>
              <a:t>• CUSTOMER_DATA_MASK: Protects client registries and geographic segments. Isolates the Planning analyst while masking data for Procurement and Logistics.</a:t>
            </a:r>
          </a:p>
          <a:p>
            <a:pPr>
              <a:defRPr sz="1200">
                <a:solidFill>
                  <a:srgbClr val="0F172A"/>
                </a:solidFill>
              </a:defRPr>
            </a:pPr>
            <a:r>
              <a:t>• SAFETY_STOCK_MASK: Protects buffer values. Restricts Procurement and Logistics roles while allowing visibility for Planning analysts.</a:t>
            </a:r>
          </a:p>
          <a:p>
            <a:pPr>
              <a:defRPr sz="1200">
                <a:solidFill>
                  <a:srgbClr val="0F172A"/>
                </a:solidFill>
              </a:defRPr>
            </a:pPr>
            <a:r>
              <a:t>• REORDER_POINT_MASK: Restricts access to reorder thresholds. Grants access to Procurement and Planning roles while masking data for Logistics coordinators.</a:t>
            </a:r>
          </a:p>
          <a:p>
            <a:pPr>
              <a:defRPr sz="1200">
                <a:solidFill>
                  <a:srgbClr val="0F172A"/>
                </a:solidFill>
              </a:defRPr>
            </a:pPr>
            <a:r>
              <a:t>• Infrastructure Override Exemption: The infrastructure role (SC_AGENT_ROLE) bypasses masking constraints to process multi-domain lookup queries safely without mutating row structures.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20095" cy="731520"/>
          </a:xfrm>
          <a:prstGeom prst="rect">
            <a:avLst/>
          </a:prstGeom>
          <a:noFill/>
        </p:spPr>
        <p:txBody>
          <a:bodyPr wrap="square">
            <a:spAutoFit/>
          </a:bodyPr>
          <a:lstStyle/>
          <a:p>
            <a:pPr>
              <a:defRPr sz="2800" b="1">
                <a:solidFill>
                  <a:srgbClr val="0F172A"/>
                </a:solidFill>
                <a:latin typeface="Arial"/>
              </a:defRPr>
            </a:pPr>
            <a:r>
              <a:t>CoCo Workspace Life-Cycle Milestones &amp; Verification</a:t>
            </a:r>
          </a:p>
        </p:txBody>
      </p:sp>
      <p:sp>
        <p:nvSpPr>
          <p:cNvPr id="4" name="Rectangle 3"/>
          <p:cNvSpPr/>
          <p:nvPr/>
        </p:nvSpPr>
        <p:spPr>
          <a:xfrm>
            <a:off x="685800" y="1188720"/>
            <a:ext cx="10820095" cy="18288"/>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85800" y="1371600"/>
            <a:ext cx="10820095" cy="5029200"/>
          </a:xfrm>
          <a:prstGeom prst="rect">
            <a:avLst/>
          </a:prstGeom>
          <a:noFill/>
        </p:spPr>
        <p:txBody>
          <a:bodyPr wrap="square">
            <a:spAutoFit/>
          </a:bodyPr>
          <a:lstStyle/>
          <a:p>
            <a:endParaRPr/>
          </a:p>
          <a:p>
            <a:pPr>
              <a:spcBef>
                <a:spcPts val="600"/>
              </a:spcBef>
              <a:defRPr sz="1400" b="1">
                <a:solidFill>
                  <a:srgbClr val="2563EB"/>
                </a:solidFill>
              </a:defRPr>
            </a:pPr>
            <a:r>
              <a:t>1. Planning Phase Milestones</a:t>
            </a:r>
          </a:p>
          <a:p>
            <a:pPr>
              <a:defRPr sz="1200">
                <a:solidFill>
                  <a:srgbClr val="0F172A"/>
                </a:solidFill>
              </a:defRPr>
            </a:pPr>
            <a:r>
              <a:t>Explored global supply chain behavior patterns inside CoCo workspaces. Drafted structural block-flows, mapped operational entities, and designed a 10-phase layout plan. Generated a comprehensive 2,100+ line architecture document.</a:t>
            </a:r>
          </a:p>
          <a:p>
            <a:pPr>
              <a:spcBef>
                <a:spcPts val="600"/>
              </a:spcBef>
              <a:defRPr sz="1400" b="1">
                <a:solidFill>
                  <a:srgbClr val="2563EB"/>
                </a:solidFill>
              </a:defRPr>
            </a:pPr>
            <a:r>
              <a:t>2. Development Phase Milestones</a:t>
            </a:r>
          </a:p>
          <a:p>
            <a:pPr>
              <a:defRPr sz="1200">
                <a:solidFill>
                  <a:srgbClr val="0F172A"/>
                </a:solidFill>
              </a:defRPr>
            </a:pPr>
            <a:r>
              <a:t>Compiled all 44 distinct system files through the CoCo engine interface. Generated 565+ rows of referentially consistent synthetic data to accelerate development testing. Configured the 868-line semantic view and built a persona-aware Streamlit interface.</a:t>
            </a:r>
          </a:p>
          <a:p>
            <a:pPr>
              <a:spcBef>
                <a:spcPts val="600"/>
              </a:spcBef>
              <a:defRPr sz="1400" b="1">
                <a:solidFill>
                  <a:srgbClr val="2563EB"/>
                </a:solidFill>
              </a:defRPr>
            </a:pPr>
            <a:r>
              <a:t>3. Execution Phase Milestones</a:t>
            </a:r>
          </a:p>
          <a:p>
            <a:pPr>
              <a:defRPr sz="1200">
                <a:solidFill>
                  <a:srgbClr val="0F172A"/>
                </a:solidFill>
              </a:defRPr>
            </a:pPr>
            <a:r>
              <a:t>Deployed 52 data layer objects down to active cloud instances via the CoCo CLI. Set up 3 scheduled cron tasks (Logistics at 7:30 AM, Planning at 8:00 AM, Procurement at 8:30 AM IST) using cortex automation commands to distribute daily updates via Slack and Gmail.</a:t>
            </a:r>
          </a:p>
          <a:p>
            <a:pPr>
              <a:spcBef>
                <a:spcPts val="600"/>
              </a:spcBef>
              <a:defRPr sz="1400" b="1">
                <a:solidFill>
                  <a:srgbClr val="2563EB"/>
                </a:solidFill>
              </a:defRPr>
            </a:pPr>
            <a:r>
              <a:t>4. Testing &amp; Validation Phase Milestones</a:t>
            </a:r>
          </a:p>
          <a:p>
            <a:pPr>
              <a:defRPr sz="1200">
                <a:solidFill>
                  <a:srgbClr val="0F172A"/>
                </a:solidFill>
              </a:defRPr>
            </a:pPr>
            <a:r>
              <a:t>Executed functional unit-testing sweeps across different profiles. Verified metric consistency (ensuring OTD targets resolve exactly to 50.0% globally), tested security masking bounds, checked procedural validation logic, and resolved app parsing bugs.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85800" y="457200"/>
            <a:ext cx="10820095" cy="731520"/>
          </a:xfrm>
          <a:prstGeom prst="rect">
            <a:avLst/>
          </a:prstGeom>
          <a:noFill/>
        </p:spPr>
        <p:txBody>
          <a:bodyPr wrap="none">
            <a:spAutoFit/>
          </a:bodyPr>
          <a:lstStyle/>
          <a:p>
            <a:pPr>
              <a:defRPr sz="2800" b="1">
                <a:solidFill>
                  <a:srgbClr val="F1F5F9"/>
                </a:solidFill>
              </a:defRPr>
            </a:pPr>
            <a:r>
              <a:t>Live Execution Surfaces, Connectors &amp; Business Impact</a:t>
            </a:r>
          </a:p>
        </p:txBody>
      </p:sp>
      <p:sp>
        <p:nvSpPr>
          <p:cNvPr id="4" name="TextBox 3"/>
          <p:cNvSpPr txBox="1"/>
          <p:nvPr/>
        </p:nvSpPr>
        <p:spPr>
          <a:xfrm>
            <a:off x="685800" y="1645920"/>
            <a:ext cx="5120640" cy="4389120"/>
          </a:xfrm>
          <a:prstGeom prst="rect">
            <a:avLst/>
          </a:prstGeom>
          <a:noFill/>
        </p:spPr>
        <p:txBody>
          <a:bodyPr wrap="square">
            <a:spAutoFit/>
          </a:bodyPr>
          <a:lstStyle/>
          <a:p>
            <a:pPr>
              <a:defRPr sz="1800" b="1">
                <a:solidFill>
                  <a:srgbClr val="38BDF8"/>
                </a:solidFill>
              </a:defRPr>
            </a:pPr>
            <a:r>
              <a:t>Production Interfaces &amp; MCP Connections</a:t>
            </a:r>
          </a:p>
          <a:p>
            <a:pPr>
              <a:defRPr sz="1200">
                <a:solidFill>
                  <a:srgbClr val="F1F5F9"/>
                </a:solidFill>
              </a:defRPr>
            </a:pPr>
            <a:r>
              <a:t>• Streamlit Application Layer: Multi-view architecture deployed to SiS. Automatically detects active roles via CURRENT_ROLE(), loads persona-specific dashboards, and embeds natural language chat blocks at the bottom of every page.</a:t>
            </a:r>
          </a:p>
          <a:p>
            <a:pPr>
              <a:defRPr sz="1200">
                <a:solidFill>
                  <a:srgbClr val="F1F5F9"/>
                </a:solidFill>
              </a:defRPr>
            </a:pPr>
            <a:r>
              <a:t>• Staggered Automated Briefs: Automations execute sequentially on weekdays. Logistics feeds Planning, which feeds Procurement to provide highly contextual updates.</a:t>
            </a:r>
          </a:p>
          <a:p>
            <a:pPr>
              <a:defRPr sz="1200">
                <a:solidFill>
                  <a:srgbClr val="F1F5F9"/>
                </a:solidFill>
              </a:defRPr>
            </a:pPr>
            <a:r>
              <a:t>• Model Context Protocol (MCP) Connectors: Implements 3 external integration channels: ATLASSIAN_MCP for ticket management, GMAIL for scheduled summary delivery, and SLACK_MCP for continuous team channels.</a:t>
            </a:r>
          </a:p>
        </p:txBody>
      </p:sp>
      <p:sp>
        <p:nvSpPr>
          <p:cNvPr id="5" name="TextBox 4"/>
          <p:cNvSpPr txBox="1"/>
          <p:nvPr/>
        </p:nvSpPr>
        <p:spPr>
          <a:xfrm>
            <a:off x="6217920" y="1645920"/>
            <a:ext cx="5120640" cy="4389120"/>
          </a:xfrm>
          <a:prstGeom prst="rect">
            <a:avLst/>
          </a:prstGeom>
          <a:noFill/>
        </p:spPr>
        <p:txBody>
          <a:bodyPr wrap="square">
            <a:spAutoFit/>
          </a:bodyPr>
          <a:lstStyle/>
          <a:p>
            <a:pPr>
              <a:defRPr sz="1800" b="1">
                <a:solidFill>
                  <a:srgbClr val="38BDF8"/>
                </a:solidFill>
              </a:defRPr>
            </a:pPr>
            <a:r>
              <a:t>Measurable Architectural Value Metrics</a:t>
            </a:r>
          </a:p>
          <a:p>
            <a:pPr>
              <a:defRPr sz="1200">
                <a:solidFill>
                  <a:srgbClr val="F1F5F9"/>
                </a:solidFill>
              </a:defRPr>
            </a:pPr>
            <a:r>
              <a:t>• 100% Metric Calculation Alignment: Strips out data calculation fragmentation across teams; every persona shares a single source of truth.</a:t>
            </a:r>
          </a:p>
          <a:p>
            <a:pPr>
              <a:defRPr sz="1200">
                <a:solidFill>
                  <a:srgbClr val="F1F5F9"/>
                </a:solidFill>
              </a:defRPr>
            </a:pPr>
            <a:r>
              <a:t>• Sub-Minute Time to Strategic Insight: Drastically cuts data lookups down from 30 to 60 minutes of manual gathering to instant answers.</a:t>
            </a:r>
          </a:p>
          <a:p>
            <a:pPr>
              <a:defRPr sz="1200">
                <a:solidFill>
                  <a:srgbClr val="F1F5F9"/>
                </a:solidFill>
              </a:defRPr>
            </a:pPr>
            <a:r>
              <a:t>• Instant Turnaround Remediation: Reduces operational resolution latency to a single step by nesting workflows within the conversational interface.</a:t>
            </a:r>
          </a:p>
          <a:p>
            <a:pPr>
              <a:defRPr sz="1200">
                <a:solidFill>
                  <a:srgbClr val="F1F5F9"/>
                </a:solidFill>
              </a:defRPr>
            </a:pPr>
            <a:r>
              <a:t>• Scalable Enterprise Blueprint: Adding new metrics or operational integrations is entirely modular. Update semantic configurations or connect additional MCP servers without re-writing basic code links.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Metadata/LabelInfo.xml><?xml version="1.0" encoding="utf-8"?>
<clbl:labelList xmlns:clbl="http://schemas.microsoft.com/office/2020/mipLabelMetadata">
  <clbl:label id="{73094ff5-79ca-456b-95f6-d578316a3809}" enabled="1" method="Privileged" siteId="{771c9c47-7f24-44dc-958e-34f8713a8394}" contentBits="0" removed="0"/>
</clbl:labelList>
</file>

<file path=docProps/app.xml><?xml version="1.0" encoding="utf-8"?>
<Properties xmlns="http://schemas.openxmlformats.org/officeDocument/2006/extended-properties" xmlns:vt="http://schemas.openxmlformats.org/officeDocument/2006/docPropsVTypes">
  <TotalTime>3</TotalTime>
  <Words>3561</Words>
  <Application>Microsoft Office PowerPoint</Application>
  <PresentationFormat>Widescreen</PresentationFormat>
  <Paragraphs>151</Paragraphs>
  <Slides>17</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Kaur, Prabhjot</cp:lastModifiedBy>
  <cp:revision>2</cp:revision>
  <dcterms:created xsi:type="dcterms:W3CDTF">2013-01-27T09:14:16Z</dcterms:created>
  <dcterms:modified xsi:type="dcterms:W3CDTF">2026-10-06T18:18:13Z</dcterms:modified>
  <cp:category/>
</cp:coreProperties>
</file>